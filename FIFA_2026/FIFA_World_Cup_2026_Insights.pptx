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2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95B116C4-54EA-3992-7D03-F8112E203925}">
          <p14:sldIdLst>
            <p14:sldId id="256"/>
          </p14:sldIdLst>
        </p14:section>
        <p14:section name="Dashboards" id="{72FC6CE9-0018-963C-D97C-D60CDA954D11}">
          <p14:sldIdLst>
            <p14:sldId id="257"/>
            <p14:sldId id="258"/>
            <p14:sldId id="259"/>
          </p14:sldIdLst>
        </p14:section>
        <p14:section name="Wrap-up" id="{5DA2290B-7C70-DA24-5806-53099674463C}">
          <p14:sldIdLst>
            <p14:sldId id="261"/>
          </p14:sldIdLst>
        </p14:section>
        <p14:section name="Closing" id="{698AACEC-F350-1351-5B60-B0788872C0F7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8555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4059936" cy="1828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" name="Shape 1"/>
          <p:cNvSpPr/>
          <p:nvPr/>
        </p:nvSpPr>
        <p:spPr>
          <a:xfrm>
            <a:off x="4059936" y="6675120"/>
            <a:ext cx="4069080" cy="18288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8129016" y="6675120"/>
            <a:ext cx="4059936" cy="1828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>
            <a:spLocks noGrp="1"/>
          </p:cNvSpPr>
          <p:nvPr>
            <p:ph type="title" idx="103" hasCustomPrompt="1"/>
          </p:nvPr>
        </p:nvSpPr>
        <p:spPr>
          <a:xfrm>
            <a:off x="822960" y="1828800"/>
            <a:ext cx="105156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5600" dirty="0"/>
          </a:p>
        </p:txBody>
      </p:sp>
      <p:sp>
        <p:nvSpPr>
          <p:cNvPr id="6" name="Text 3"/>
          <p:cNvSpPr>
            <a:spLocks noGrp="1"/>
          </p:cNvSpPr>
          <p:nvPr>
            <p:ph type="body" idx="104" hasCustomPrompt="1"/>
          </p:nvPr>
        </p:nvSpPr>
        <p:spPr>
          <a:xfrm>
            <a:off x="822960" y="3154680"/>
            <a:ext cx="10515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dirty="0">
                <a:solidFill>
                  <a:schemeClr val="accent4"/>
                </a:solidFill>
              </a:defRPr>
            </a:lvl1pPr>
          </a:lstStyle>
          <a:p>
            <a:pPr marL="0" indent="0" algn="l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92608"/>
            <a:ext cx="112471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25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600" dirty="0">
                <a:solidFill>
                  <a:schemeClr val="accent4"/>
                </a:solidFill>
              </a:rPr>
              <a:t>USA  ·  CANADA  ·  MEXICO</a:t>
            </a:r>
            <a:endParaRPr lang="en-US" dirty="0"/>
          </a:p>
        </p:txBody>
      </p:sp>
      <p:sp>
        <p:nvSpPr>
          <p:cNvPr id="3" name="Text 3"/>
          <p:cNvSpPr>
            <a:spLocks noGrp="1"/>
          </p:cNvSpPr>
          <p:nvPr>
            <p:ph type="title" idx="103" hasCustomPrompt="1"/>
          </p:nvPr>
        </p:nvSpPr>
        <p:spPr>
          <a:xfrm>
            <a:off x="822960" y="18288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chemeClr val="bg1"/>
                </a:solidFill>
              </a:rPr>
              <a:t>FIFA World Cup 2026</a:t>
            </a:r>
            <a:endParaRPr lang="en-US" sz="5600" dirty="0"/>
          </a:p>
        </p:txBody>
      </p:sp>
      <p:sp>
        <p:nvSpPr>
          <p:cNvPr id="4" name="Text 3"/>
          <p:cNvSpPr>
            <a:spLocks noGrp="1"/>
          </p:cNvSpPr>
          <p:nvPr>
            <p:ph type="body" idx="104" hasCustomPrompt="1"/>
          </p:nvPr>
        </p:nvSpPr>
        <p:spPr>
          <a:xfrm>
            <a:off x="822960" y="3154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accent4"/>
                </a:solidFill>
              </a:rPr>
              <a:t>Dashboard Insights</a:t>
            </a:r>
            <a:endParaRPr lang="en-US" sz="2400" dirty="0"/>
          </a:p>
        </p:txBody>
      </p:sp>
      <p:sp>
        <p:nvSpPr>
          <p:cNvPr id="5" name="Stat 1 value"/>
          <p:cNvSpPr txBox="1"/>
          <p:nvPr/>
        </p:nvSpPr>
        <p:spPr>
          <a:xfrm>
            <a:off x="822960" y="45720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50</a:t>
            </a:r>
            <a:endParaRPr lang="en-US" sz="3200" dirty="0"/>
          </a:p>
        </p:txBody>
      </p:sp>
      <p:sp>
        <p:nvSpPr>
          <p:cNvPr id="6" name="Stat 1 label"/>
          <p:cNvSpPr txBox="1"/>
          <p:nvPr/>
        </p:nvSpPr>
        <p:spPr>
          <a:xfrm>
            <a:off x="822960" y="5212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Matches</a:t>
            </a:r>
            <a:endParaRPr lang="en-US" sz="1400" dirty="0"/>
          </a:p>
        </p:txBody>
      </p:sp>
      <p:sp>
        <p:nvSpPr>
          <p:cNvPr id="7" name="Stat 2 value"/>
          <p:cNvSpPr txBox="1"/>
          <p:nvPr/>
        </p:nvSpPr>
        <p:spPr>
          <a:xfrm>
            <a:off x="3108960" y="45720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186</a:t>
            </a:r>
            <a:endParaRPr lang="en-US" sz="3200" dirty="0"/>
          </a:p>
        </p:txBody>
      </p:sp>
      <p:sp>
        <p:nvSpPr>
          <p:cNvPr id="8" name="Stat 2 label"/>
          <p:cNvSpPr txBox="1"/>
          <p:nvPr/>
        </p:nvSpPr>
        <p:spPr>
          <a:xfrm>
            <a:off x="3108960" y="5212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Goals</a:t>
            </a:r>
            <a:endParaRPr lang="en-US" sz="1400" dirty="0"/>
          </a:p>
        </p:txBody>
      </p:sp>
      <p:sp>
        <p:nvSpPr>
          <p:cNvPr id="9" name="Stat 3 value"/>
          <p:cNvSpPr txBox="1"/>
          <p:nvPr/>
        </p:nvSpPr>
        <p:spPr>
          <a:xfrm>
            <a:off x="5394960" y="45720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300</a:t>
            </a:r>
            <a:endParaRPr lang="en-US" sz="3200" dirty="0"/>
          </a:p>
        </p:txBody>
      </p:sp>
      <p:sp>
        <p:nvSpPr>
          <p:cNvPr id="10" name="Stat 3 label"/>
          <p:cNvSpPr txBox="1"/>
          <p:nvPr/>
        </p:nvSpPr>
        <p:spPr>
          <a:xfrm>
            <a:off x="5394960" y="5212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Players</a:t>
            </a:r>
            <a:endParaRPr lang="en-US" sz="1400" dirty="0"/>
          </a:p>
        </p:txBody>
      </p:sp>
      <p:sp>
        <p:nvSpPr>
          <p:cNvPr id="11" name="Stat 4 value"/>
          <p:cNvSpPr txBox="1"/>
          <p:nvPr/>
        </p:nvSpPr>
        <p:spPr>
          <a:xfrm>
            <a:off x="7680960" y="45720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11 Jun – 20 Jul</a:t>
            </a:r>
            <a:endParaRPr lang="en-US" sz="3200" dirty="0"/>
          </a:p>
        </p:txBody>
      </p:sp>
      <p:sp>
        <p:nvSpPr>
          <p:cNvPr id="12" name="Stat 4 label"/>
          <p:cNvSpPr txBox="1"/>
          <p:nvPr/>
        </p:nvSpPr>
        <p:spPr>
          <a:xfrm>
            <a:off x="7680960" y="5212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Tournament window</a:t>
            </a:r>
            <a:endParaRPr lang="en-US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4A44FB-A23D-8EE8-E39B-A2F840B570E8}"/>
              </a:ext>
            </a:extLst>
          </p:cNvPr>
          <p:cNvSpPr txBox="1"/>
          <p:nvPr/>
        </p:nvSpPr>
        <p:spPr>
          <a:xfrm>
            <a:off x="10251232" y="5767365"/>
            <a:ext cx="365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Submitted  by,       </a:t>
            </a:r>
          </a:p>
          <a:p>
            <a:r>
              <a:rPr lang="en-US" b="1" dirty="0">
                <a:solidFill>
                  <a:schemeClr val="bg1"/>
                </a:solidFill>
              </a:rPr>
              <a:t>Archi </a:t>
            </a:r>
            <a:r>
              <a:rPr lang="en-US" b="1" dirty="0" err="1">
                <a:solidFill>
                  <a:schemeClr val="bg1"/>
                </a:solidFill>
              </a:rPr>
              <a:t>katiyar</a:t>
            </a:r>
            <a:endParaRPr lang="en-IN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92608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Overview: 50 matches, 186 goals, 3.7 goals per match</a:t>
            </a:r>
            <a:endParaRPr lang="en-US" sz="2800" dirty="0"/>
          </a:p>
        </p:txBody>
      </p:sp>
      <p:sp>
        <p:nvSpPr>
          <p:cNvPr id="3" name="Image frame"/>
          <p:cNvSpPr/>
          <p:nvPr/>
        </p:nvSpPr>
        <p:spPr>
          <a:xfrm>
            <a:off x="570101" y="1959256"/>
            <a:ext cx="7406640" cy="3382692"/>
          </a:xfrm>
          <a:prstGeom prst="rect">
            <a:avLst/>
          </a:prstGeom>
          <a:solidFill>
            <a:schemeClr val="bg1"/>
          </a:solidFill>
          <a:ln w="12700">
            <a:solidFill>
              <a:srgbClr val="D5DCE8"/>
            </a:solidFill>
            <a:prstDash val="solid"/>
          </a:ln>
        </p:spPr>
      </p:sp>
      <p:pic>
        <p:nvPicPr>
          <p:cNvPr id="4" name="Dashboard screenshot" descr="FIFA World Cup 2026 dashboard: totals, matches by stage, venue attendance, goals by team, FIFA rank by team"/>
          <p:cNvPicPr>
            <a:picLocks noChangeAspect="1"/>
          </p:cNvPicPr>
          <p:nvPr/>
        </p:nvPicPr>
        <p:blipFill>
          <a:blip r:embed="rId3"/>
          <a:srcRect l="832" t="267"/>
          <a:stretch>
            <a:fillRect/>
          </a:stretch>
        </p:blipFill>
        <p:spPr>
          <a:xfrm>
            <a:off x="307910" y="1418253"/>
            <a:ext cx="8901404" cy="4378390"/>
          </a:xfrm>
          <a:prstGeom prst="rect">
            <a:avLst/>
          </a:prstGeom>
        </p:spPr>
      </p:pic>
      <p:sp>
        <p:nvSpPr>
          <p:cNvPr id="8" name="Insights heading"/>
          <p:cNvSpPr txBox="1"/>
          <p:nvPr/>
        </p:nvSpPr>
        <p:spPr>
          <a:xfrm>
            <a:off x="9669314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Key insights</a:t>
            </a:r>
            <a:endParaRPr lang="en-US" sz="2000" dirty="0"/>
          </a:p>
        </p:txBody>
      </p:sp>
      <p:sp>
        <p:nvSpPr>
          <p:cNvPr id="9" name="Insights list"/>
          <p:cNvSpPr txBox="1"/>
          <p:nvPr/>
        </p:nvSpPr>
        <p:spPr>
          <a:xfrm>
            <a:off x="9361776" y="1704236"/>
            <a:ext cx="2714276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Balanced schedule. </a:t>
            </a:r>
            <a:r>
              <a:rPr lang="en-US" sz="1400" dirty="0">
                <a:solidFill>
                  <a:schemeClr val="tx1"/>
                </a:solidFill>
              </a:rPr>
              <a:t>13 matches each in Group A and Group B, 10 in Group C and 14 in the knockout stage.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Big venues draw the crowds. </a:t>
            </a:r>
            <a:r>
              <a:rPr lang="en-US" sz="1400" dirty="0">
                <a:solidFill>
                  <a:schemeClr val="tx1"/>
                </a:solidFill>
              </a:rPr>
              <a:t>AT&amp;T (about 69K) and MetLife (about 66K) lead average attendance; BMO Field and Levi’s sit lowest near 47K.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Scoring is spread out. </a:t>
            </a:r>
            <a:r>
              <a:rPr lang="en-US" sz="1400" dirty="0">
                <a:solidFill>
                  <a:schemeClr val="tx1"/>
                </a:solidFill>
              </a:rPr>
              <a:t>Colombia leads with 12 goals, Argentina and USA follow with 10, while Italy, Portugal and South Korea show none.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Rank does not predict goals. </a:t>
            </a:r>
            <a:r>
              <a:rPr lang="en-US" sz="1400" dirty="0">
                <a:solidFill>
                  <a:schemeClr val="tx1"/>
                </a:solidFill>
              </a:rPr>
              <a:t>Argentina has the highest rank value (about 93) yet scored 10; Colombia (about 22) scored the most.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92608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Group B and hot weather bring the most goals</a:t>
            </a:r>
            <a:endParaRPr lang="en-US" sz="2800" dirty="0"/>
          </a:p>
        </p:txBody>
      </p:sp>
      <p:pic>
        <p:nvPicPr>
          <p:cNvPr id="4" name="Dashboard screenshot" descr="FIFA World Cup 2026 dashboard: goals by stage, matches and goals by weather, attendance by weath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54155"/>
            <a:ext cx="8109235" cy="4170784"/>
          </a:xfrm>
          <a:prstGeom prst="rect">
            <a:avLst/>
          </a:prstGeom>
        </p:spPr>
      </p:pic>
      <p:sp>
        <p:nvSpPr>
          <p:cNvPr id="8" name="Insights heading"/>
          <p:cNvSpPr txBox="1"/>
          <p:nvPr/>
        </p:nvSpPr>
        <p:spPr>
          <a:xfrm>
            <a:off x="8846354" y="113301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Key insights</a:t>
            </a:r>
            <a:endParaRPr lang="en-US" sz="2000" dirty="0"/>
          </a:p>
        </p:txBody>
      </p:sp>
      <p:sp>
        <p:nvSpPr>
          <p:cNvPr id="9" name="Insights list"/>
          <p:cNvSpPr txBox="1"/>
          <p:nvPr/>
        </p:nvSpPr>
        <p:spPr>
          <a:xfrm>
            <a:off x="8705460" y="1600200"/>
            <a:ext cx="3044579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Stadiums run at about 84% full. </a:t>
            </a:r>
            <a:r>
              <a:rPr lang="en-US" sz="1600" dirty="0">
                <a:solidFill>
                  <a:schemeClr val="tx1"/>
                </a:solidFill>
              </a:rPr>
              <a:t>Average attendance is 58,771 against an average capacity of 70,300; the highest-scoring match had 7 goals.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Group B is the scoring group. </a:t>
            </a:r>
            <a:r>
              <a:rPr lang="en-US" sz="1600" dirty="0">
                <a:solidFill>
                  <a:schemeClr val="tx1"/>
                </a:solidFill>
              </a:rPr>
              <a:t>60 goals in 13 matches (about 4.6 per match) versus 47 in Group A, 37 in Group C and 42 in the knockouts (about 3.0 per match).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Hot matches score most. </a:t>
            </a:r>
            <a:r>
              <a:rPr lang="en-US" sz="1600" dirty="0">
                <a:solidFill>
                  <a:schemeClr val="tx1"/>
                </a:solidFill>
              </a:rPr>
              <a:t>17 matches and 68 goals (about 4.0 per match); rain has 7 matches and 25 goals.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Hot days also pull the biggest share of attendance. </a:t>
            </a:r>
            <a:r>
              <a:rPr lang="en-US" sz="1600" dirty="0">
                <a:solidFill>
                  <a:schemeClr val="tx1"/>
                </a:solidFill>
              </a:rPr>
              <a:t>34% of total attendance, ahead of sunny (28.8%), cloudy (22.5%) and rain (14.7%).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92608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Attendance and referees: schedule and venue matter most</a:t>
            </a:r>
            <a:endParaRPr lang="en-US" sz="2800" dirty="0"/>
          </a:p>
        </p:txBody>
      </p:sp>
      <p:pic>
        <p:nvPicPr>
          <p:cNvPr id="4" name="Dashboard screenshot" descr="FIFA World Cup 2026 dashboard: attendance and temperature by venue, attendance by weather and stage, attendance trend, referee strictness vs goa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396" y="1129004"/>
            <a:ext cx="8709007" cy="4110694"/>
          </a:xfrm>
          <a:prstGeom prst="rect">
            <a:avLst/>
          </a:prstGeom>
        </p:spPr>
      </p:pic>
      <p:sp>
        <p:nvSpPr>
          <p:cNvPr id="5" name="So-what band"/>
          <p:cNvSpPr/>
          <p:nvPr/>
        </p:nvSpPr>
        <p:spPr>
          <a:xfrm>
            <a:off x="586149" y="5394960"/>
            <a:ext cx="7315200" cy="10515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So-what accent"/>
          <p:cNvSpPr/>
          <p:nvPr/>
        </p:nvSpPr>
        <p:spPr>
          <a:xfrm>
            <a:off x="550879" y="5394960"/>
            <a:ext cx="82296" cy="105156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7" name="So-what text"/>
          <p:cNvSpPr txBox="1"/>
          <p:nvPr/>
        </p:nvSpPr>
        <p:spPr>
          <a:xfrm>
            <a:off x="873905" y="5349240"/>
            <a:ext cx="685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 </a:t>
            </a:r>
            <a:r>
              <a:rPr lang="en-US" sz="1400" dirty="0">
                <a:solidFill>
                  <a:schemeClr val="tx1"/>
                </a:solidFill>
              </a:rPr>
              <a:t>Per match, crowds are steady at about 57K–61K across stages, so totals follow match counts. Calendar and venue are the real levers.</a:t>
            </a:r>
            <a:endParaRPr lang="en-US" sz="1400" dirty="0"/>
          </a:p>
        </p:txBody>
      </p:sp>
      <p:sp>
        <p:nvSpPr>
          <p:cNvPr id="8" name="Insights heading"/>
          <p:cNvSpPr txBox="1"/>
          <p:nvPr/>
        </p:nvSpPr>
        <p:spPr>
          <a:xfrm>
            <a:off x="9219578" y="10241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Key insights</a:t>
            </a:r>
            <a:endParaRPr lang="en-US" sz="2000" dirty="0"/>
          </a:p>
        </p:txBody>
      </p:sp>
      <p:sp>
        <p:nvSpPr>
          <p:cNvPr id="9" name="Insights list"/>
          <p:cNvSpPr txBox="1"/>
          <p:nvPr/>
        </p:nvSpPr>
        <p:spPr>
          <a:xfrm>
            <a:off x="9032032" y="1494764"/>
            <a:ext cx="2718007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Venue beats temperature. </a:t>
            </a:r>
            <a:r>
              <a:rPr lang="en-US" sz="1600" dirty="0">
                <a:solidFill>
                  <a:schemeClr val="tx1"/>
                </a:solidFill>
              </a:rPr>
              <a:t>Hard Rock is the hottest venue (about 30°C) and BC Place the coolest (about 19°C), yet neither tracks attendance; AT&amp;T leads at about 69K.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Knockouts draw the most in total. </a:t>
            </a:r>
            <a:r>
              <a:rPr lang="en-US" sz="1600" dirty="0">
                <a:solidFill>
                  <a:schemeClr val="tx1"/>
                </a:solidFill>
              </a:rPr>
              <a:t>About 800K versus about 765K for Groups A and B and about 610K for Group C, which had the fewest matches.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Daily crowds swing widely. </a:t>
            </a:r>
            <a:r>
              <a:rPr lang="en-US" sz="1600" dirty="0">
                <a:solidFill>
                  <a:schemeClr val="tx1"/>
                </a:solidFill>
              </a:rPr>
              <a:t>Between roughly 35K and 80K, with peaks near 80K on 7 and 20 July and dips near 35K on 22 June and 1 July.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Referee strictness shows no pattern. </a:t>
            </a:r>
            <a:r>
              <a:rPr lang="en-US" sz="1600" dirty="0">
                <a:solidFill>
                  <a:schemeClr val="tx1"/>
                </a:solidFill>
              </a:rPr>
              <a:t>Ratings of 6.7 to 9.0 are scattered against 1 to 23 goals with no visible trend.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92608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Summary</a:t>
            </a:r>
            <a:endParaRPr lang="en-US" sz="3200" dirty="0"/>
          </a:p>
        </p:txBody>
      </p:sp>
      <p:sp>
        <p:nvSpPr>
          <p:cNvPr id="3" name="Card 1"/>
          <p:cNvSpPr/>
          <p:nvPr/>
        </p:nvSpPr>
        <p:spPr>
          <a:xfrm>
            <a:off x="457200" y="1280160"/>
            <a:ext cx="2606040" cy="17373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Card 1 accent"/>
          <p:cNvSpPr/>
          <p:nvPr/>
        </p:nvSpPr>
        <p:spPr>
          <a:xfrm>
            <a:off x="457200" y="1280160"/>
            <a:ext cx="2606040" cy="822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Card 1 value"/>
          <p:cNvSpPr txBox="1"/>
          <p:nvPr/>
        </p:nvSpPr>
        <p:spPr>
          <a:xfrm>
            <a:off x="640080" y="14630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3.7</a:t>
            </a:r>
            <a:endParaRPr lang="en-US" sz="3600" dirty="0"/>
          </a:p>
        </p:txBody>
      </p:sp>
      <p:sp>
        <p:nvSpPr>
          <p:cNvPr id="6" name="Card 1 label"/>
          <p:cNvSpPr txBox="1"/>
          <p:nvPr/>
        </p:nvSpPr>
        <p:spPr>
          <a:xfrm>
            <a:off x="640080" y="21031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goals per match</a:t>
            </a:r>
            <a:endParaRPr lang="en-US" dirty="0"/>
          </a:p>
        </p:txBody>
      </p:sp>
      <p:sp>
        <p:nvSpPr>
          <p:cNvPr id="7" name="Card 1 detail"/>
          <p:cNvSpPr txBox="1"/>
          <p:nvPr/>
        </p:nvSpPr>
        <p:spPr>
          <a:xfrm>
            <a:off x="640080" y="249631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186 goals in 50 matches</a:t>
            </a:r>
            <a:endParaRPr lang="en-US" sz="1600" dirty="0"/>
          </a:p>
        </p:txBody>
      </p:sp>
      <p:sp>
        <p:nvSpPr>
          <p:cNvPr id="8" name="Card 2"/>
          <p:cNvSpPr/>
          <p:nvPr/>
        </p:nvSpPr>
        <p:spPr>
          <a:xfrm>
            <a:off x="3337560" y="1280160"/>
            <a:ext cx="2606040" cy="17373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Card 2 accent"/>
          <p:cNvSpPr/>
          <p:nvPr/>
        </p:nvSpPr>
        <p:spPr>
          <a:xfrm>
            <a:off x="3337560" y="1280160"/>
            <a:ext cx="2606040" cy="8229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0" name="Card 2 value"/>
          <p:cNvSpPr txBox="1"/>
          <p:nvPr/>
        </p:nvSpPr>
        <p:spPr>
          <a:xfrm>
            <a:off x="3520440" y="14630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84%</a:t>
            </a:r>
            <a:endParaRPr lang="en-US" sz="3600" dirty="0"/>
          </a:p>
        </p:txBody>
      </p:sp>
      <p:sp>
        <p:nvSpPr>
          <p:cNvPr id="11" name="Card 2 label"/>
          <p:cNvSpPr txBox="1"/>
          <p:nvPr/>
        </p:nvSpPr>
        <p:spPr>
          <a:xfrm>
            <a:off x="3489960" y="2048256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average stadium fill</a:t>
            </a:r>
            <a:endParaRPr lang="en-US" dirty="0"/>
          </a:p>
        </p:txBody>
      </p:sp>
      <p:sp>
        <p:nvSpPr>
          <p:cNvPr id="12" name="Card 2 detail"/>
          <p:cNvSpPr txBox="1"/>
          <p:nvPr/>
        </p:nvSpPr>
        <p:spPr>
          <a:xfrm>
            <a:off x="3520439" y="2423160"/>
            <a:ext cx="245364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58,771 attendance vs 70,300 capacity</a:t>
            </a:r>
            <a:endParaRPr lang="en-US" sz="1600" dirty="0"/>
          </a:p>
        </p:txBody>
      </p:sp>
      <p:sp>
        <p:nvSpPr>
          <p:cNvPr id="13" name="Card 3"/>
          <p:cNvSpPr/>
          <p:nvPr/>
        </p:nvSpPr>
        <p:spPr>
          <a:xfrm>
            <a:off x="6217920" y="1280160"/>
            <a:ext cx="2606040" cy="17373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Card 3 accent"/>
          <p:cNvSpPr/>
          <p:nvPr/>
        </p:nvSpPr>
        <p:spPr>
          <a:xfrm>
            <a:off x="6217920" y="1280160"/>
            <a:ext cx="2606040" cy="82296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5" name="Card 3 value"/>
          <p:cNvSpPr txBox="1"/>
          <p:nvPr/>
        </p:nvSpPr>
        <p:spPr>
          <a:xfrm>
            <a:off x="6400800" y="14630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4.6</a:t>
            </a:r>
            <a:endParaRPr lang="en-US" sz="3600" dirty="0"/>
          </a:p>
        </p:txBody>
      </p:sp>
      <p:sp>
        <p:nvSpPr>
          <p:cNvPr id="16" name="Card 3 label"/>
          <p:cNvSpPr txBox="1"/>
          <p:nvPr/>
        </p:nvSpPr>
        <p:spPr>
          <a:xfrm>
            <a:off x="6307494" y="213512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Group B goals per match</a:t>
            </a:r>
            <a:endParaRPr lang="en-US" dirty="0"/>
          </a:p>
        </p:txBody>
      </p:sp>
      <p:sp>
        <p:nvSpPr>
          <p:cNvPr id="17" name="Card 3 detail"/>
          <p:cNvSpPr txBox="1"/>
          <p:nvPr/>
        </p:nvSpPr>
        <p:spPr>
          <a:xfrm>
            <a:off x="6400800" y="261518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vs 3.0 in the knockouts</a:t>
            </a:r>
            <a:endParaRPr lang="en-US" sz="1600" dirty="0"/>
          </a:p>
        </p:txBody>
      </p:sp>
      <p:sp>
        <p:nvSpPr>
          <p:cNvPr id="18" name="Card 4"/>
          <p:cNvSpPr/>
          <p:nvPr/>
        </p:nvSpPr>
        <p:spPr>
          <a:xfrm>
            <a:off x="9098280" y="1280160"/>
            <a:ext cx="2606040" cy="17373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Card 4 accent"/>
          <p:cNvSpPr/>
          <p:nvPr/>
        </p:nvSpPr>
        <p:spPr>
          <a:xfrm>
            <a:off x="9098280" y="1280160"/>
            <a:ext cx="2606040" cy="82296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0" name="Card 4 value"/>
          <p:cNvSpPr txBox="1"/>
          <p:nvPr/>
        </p:nvSpPr>
        <p:spPr>
          <a:xfrm>
            <a:off x="9281160" y="14630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68</a:t>
            </a:r>
            <a:endParaRPr lang="en-US" sz="3600" dirty="0"/>
          </a:p>
        </p:txBody>
      </p:sp>
      <p:sp>
        <p:nvSpPr>
          <p:cNvPr id="21" name="Card 4 label"/>
          <p:cNvSpPr txBox="1"/>
          <p:nvPr/>
        </p:nvSpPr>
        <p:spPr>
          <a:xfrm>
            <a:off x="9281160" y="21031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goals in hot weather</a:t>
            </a:r>
            <a:endParaRPr lang="en-US" dirty="0"/>
          </a:p>
        </p:txBody>
      </p:sp>
      <p:sp>
        <p:nvSpPr>
          <p:cNvPr id="22" name="Card 4 detail"/>
          <p:cNvSpPr txBox="1"/>
          <p:nvPr/>
        </p:nvSpPr>
        <p:spPr>
          <a:xfrm>
            <a:off x="9281160" y="24688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from 17 matches, the most of any condition</a:t>
            </a:r>
            <a:endParaRPr lang="en-US" sz="1400" dirty="0"/>
          </a:p>
        </p:txBody>
      </p:sp>
      <p:sp>
        <p:nvSpPr>
          <p:cNvPr id="23" name="Summary list"/>
          <p:cNvSpPr txBox="1"/>
          <p:nvPr/>
        </p:nvSpPr>
        <p:spPr>
          <a:xfrm>
            <a:off x="320040" y="3611880"/>
            <a:ext cx="11247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b="1" dirty="0">
                <a:solidFill>
                  <a:schemeClr val="accent1"/>
                </a:solidFill>
              </a:rPr>
              <a:t>Scoring: </a:t>
            </a:r>
            <a:r>
              <a:rPr lang="en-US" dirty="0">
                <a:solidFill>
                  <a:schemeClr val="tx1"/>
                </a:solidFill>
              </a:rPr>
              <a:t>Group B and hot-weather matches score the most, but per-match differences by weather are small (about 3.55 to 4.0). FIFA rank does not predict goals.</a:t>
            </a:r>
          </a:p>
          <a:p>
            <a:pPr>
              <a:buSzPct val="100000"/>
            </a:pPr>
            <a:endParaRPr lang="en-US" dirty="0"/>
          </a:p>
          <a:p>
            <a:pPr marL="203200" indent="-203200">
              <a:buSzPct val="100000"/>
              <a:buChar char="•"/>
            </a:pPr>
            <a:r>
              <a:rPr lang="en-US" b="1" dirty="0">
                <a:solidFill>
                  <a:schemeClr val="accent1"/>
                </a:solidFill>
              </a:rPr>
              <a:t>Attendance: </a:t>
            </a:r>
            <a:r>
              <a:rPr lang="en-US" dirty="0">
                <a:solidFill>
                  <a:schemeClr val="tx1"/>
                </a:solidFill>
              </a:rPr>
              <a:t>Venue and calendar drive crowds. AT&amp;T and MetLife lead, per-match attendance is steady at about 57K–61K, and stadiums have about 16% spare capacity.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25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chemeClr val="accent4"/>
                </a:solidFill>
              </a:rPr>
              <a:t>USA  ·  CANADA  ·  MEXICO</a:t>
            </a:r>
            <a:endParaRPr lang="en-US" sz="1400" dirty="0"/>
          </a:p>
        </p:txBody>
      </p:sp>
      <p:sp>
        <p:nvSpPr>
          <p:cNvPr id="3" name="Text 3"/>
          <p:cNvSpPr>
            <a:spLocks noGrp="1"/>
          </p:cNvSpPr>
          <p:nvPr>
            <p:ph type="title" idx="103" hasCustomPrompt="1"/>
          </p:nvPr>
        </p:nvSpPr>
        <p:spPr>
          <a:xfrm>
            <a:off x="822960" y="18288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chemeClr val="bg1"/>
                </a:solidFill>
              </a:rPr>
              <a:t>Thank You</a:t>
            </a:r>
            <a:endParaRPr lang="en-US" sz="5600" dirty="0"/>
          </a:p>
        </p:txBody>
      </p:sp>
      <p:sp>
        <p:nvSpPr>
          <p:cNvPr id="4" name="Text 3"/>
          <p:cNvSpPr>
            <a:spLocks noGrp="1"/>
          </p:cNvSpPr>
          <p:nvPr>
            <p:ph type="body" idx="104" hasCustomPrompt="1"/>
          </p:nvPr>
        </p:nvSpPr>
        <p:spPr>
          <a:xfrm>
            <a:off x="822960" y="3154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accent4"/>
                </a:solidFill>
              </a:rPr>
              <a:t>FIFA World Cup 2026 – Dashboard Insights</a:t>
            </a:r>
            <a:endParaRPr lang="en-US" sz="2400" dirty="0"/>
          </a:p>
        </p:txBody>
      </p:sp>
      <p:sp>
        <p:nvSpPr>
          <p:cNvPr id="5" name="Closing line"/>
          <p:cNvSpPr txBox="1"/>
          <p:nvPr/>
        </p:nvSpPr>
        <p:spPr>
          <a:xfrm>
            <a:off x="822960" y="4206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FA 2026">
  <a:themeElements>
    <a:clrScheme name="FIFA 2026">
      <a:dk1>
        <a:srgbClr val="0B1F3A"/>
      </a:dk1>
      <a:lt1>
        <a:srgbClr val="FFFFFF"/>
      </a:lt1>
      <a:dk2>
        <a:srgbClr val="1B3A6B"/>
      </a:dk2>
      <a:lt2>
        <a:srgbClr val="EEF2F8"/>
      </a:lt2>
      <a:accent1>
        <a:srgbClr val="1F5FD1"/>
      </a:accent1>
      <a:accent2>
        <a:srgbClr val="E4002B"/>
      </a:accent2>
      <a:accent3>
        <a:srgbClr val="00A651"/>
      </a:accent3>
      <a:accent4>
        <a:srgbClr val="F5B800"/>
      </a:accent4>
      <a:accent5>
        <a:srgbClr val="5B6B82"/>
      </a:accent5>
      <a:accent6>
        <a:srgbClr val="0B1F3A"/>
      </a:accent6>
      <a:hlink>
        <a:srgbClr val="1F5FD1"/>
      </a:hlink>
      <a:folHlink>
        <a:srgbClr val="5B6B82"/>
      </a:folHlink>
    </a:clrScheme>
    <a:fontScheme name="FIFA 2026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585</Words>
  <Application>Microsoft Office PowerPoint</Application>
  <PresentationFormat>Widescreen</PresentationFormat>
  <Paragraphs>61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FIFA 2026</vt:lpstr>
      <vt:lpstr>FIFA World Cup 2026</vt:lpstr>
      <vt:lpstr>Overview: 50 matches, 186 goals, 3.7 goals per match</vt:lpstr>
      <vt:lpstr>Group B and hot weather bring the most goals</vt:lpstr>
      <vt:lpstr>Attendance and referees: schedule and venue matter most</vt:lpstr>
      <vt:lpstr>Summary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FIFA World Cup 2026 - Dashboard Insights</dc:title>
  <dc:subject>PptxGenJS Presentation</dc:subject>
  <dc:creator>PptxGenJS</dc:creator>
  <cp:lastModifiedBy>Archi Katiyar</cp:lastModifiedBy>
  <cp:revision>3</cp:revision>
  <dcterms:created xsi:type="dcterms:W3CDTF">2026-10-11T15:23:17Z</dcterms:created>
  <dcterms:modified xsi:type="dcterms:W3CDTF">2026-10-11T17:41:29Z</dcterms:modified>
</cp:coreProperties>
</file>